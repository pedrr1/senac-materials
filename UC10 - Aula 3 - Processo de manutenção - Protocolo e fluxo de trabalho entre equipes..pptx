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344" r:id="rId3"/>
    <p:sldId id="349" r:id="rId4"/>
    <p:sldId id="359" r:id="rId5"/>
    <p:sldId id="350" r:id="rId6"/>
    <p:sldId id="351" r:id="rId7"/>
    <p:sldId id="352" r:id="rId8"/>
    <p:sldId id="353" r:id="rId9"/>
    <p:sldId id="354" r:id="rId10"/>
    <p:sldId id="355" r:id="rId11"/>
    <p:sldId id="356" r:id="rId12"/>
    <p:sldId id="357" r:id="rId13"/>
    <p:sldId id="358" r:id="rId14"/>
    <p:sldId id="348" r:id="rId15"/>
  </p:sldIdLst>
  <p:sldSz cx="9144000" cy="6858000" type="screen4x3"/>
  <p:notesSz cx="6797675" cy="987425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Lucida Sans" panose="020B0602030504020204" pitchFamily="34" charset="0"/>
      <p:regular r:id="rId21"/>
      <p:bold r:id="rId22"/>
      <p:italic r:id="rId23"/>
      <p:boldItalic r:id="rId24"/>
    </p:embeddedFont>
    <p:embeddedFont>
      <p:font typeface="Verdana" panose="020B0604030504040204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2" pos="3039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5" roundtripDataSignature="AMtx7mhQFd3zvDN0SNYU0jVl9uI+c93q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52" autoAdjust="0"/>
    <p:restoredTop sz="94569" autoAdjust="0"/>
  </p:normalViewPr>
  <p:slideViewPr>
    <p:cSldViewPr snapToGrid="0">
      <p:cViewPr varScale="1">
        <p:scale>
          <a:sx n="107" d="100"/>
          <a:sy n="107" d="100"/>
        </p:scale>
        <p:origin x="1644" y="96"/>
      </p:cViewPr>
      <p:guideLst>
        <p:guide pos="30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95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8" Type="http://schemas.openxmlformats.org/officeDocument/2006/relationships/slide" Target="slides/slide7.xml"/><Relationship Id="rId9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5659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3" y="0"/>
            <a:ext cx="2945659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31863" y="741363"/>
            <a:ext cx="493395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378824"/>
            <a:ext cx="2945659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538944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919046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799388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593510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469311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855825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736122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517562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703172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151091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634860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920932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73622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de título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16" descr="ppt_INTERNA_sem text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323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flip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flip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>
            <a:spLocks noGrp="1"/>
          </p:cNvSpPr>
          <p:nvPr>
            <p:ph type="title"/>
          </p:nvPr>
        </p:nvSpPr>
        <p:spPr>
          <a:xfrm>
            <a:off x="2916238" y="274638"/>
            <a:ext cx="5770562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body" idx="1"/>
          </p:nvPr>
        </p:nvSpPr>
        <p:spPr>
          <a:xfrm>
            <a:off x="457200" y="1341438"/>
            <a:ext cx="4038600" cy="504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body" idx="2"/>
          </p:nvPr>
        </p:nvSpPr>
        <p:spPr>
          <a:xfrm>
            <a:off x="4648200" y="1341438"/>
            <a:ext cx="4038600" cy="504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flip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flip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>
            <a:spLocks noGrp="1"/>
          </p:cNvSpPr>
          <p:nvPr>
            <p:ph type="title"/>
          </p:nvPr>
        </p:nvSpPr>
        <p:spPr>
          <a:xfrm>
            <a:off x="2916238" y="274638"/>
            <a:ext cx="5770562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flip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flip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flip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2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flip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>
            <a:spLocks noGrp="1"/>
          </p:cNvSpPr>
          <p:nvPr>
            <p:ph type="title"/>
          </p:nvPr>
        </p:nvSpPr>
        <p:spPr>
          <a:xfrm>
            <a:off x="2916238" y="274638"/>
            <a:ext cx="5770562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body" idx="1"/>
          </p:nvPr>
        </p:nvSpPr>
        <p:spPr>
          <a:xfrm rot="5400000">
            <a:off x="2051844" y="-253206"/>
            <a:ext cx="504031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flip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is" type="vertTitleAndTx">
  <p:cSld name="VERTICAL_TITLE_AND_VERTICAL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6"/>
          <p:cNvSpPr txBox="1">
            <a:spLocks noGrp="1"/>
          </p:cNvSpPr>
          <p:nvPr>
            <p:ph type="title"/>
          </p:nvPr>
        </p:nvSpPr>
        <p:spPr>
          <a:xfrm rot="5400000">
            <a:off x="4604544" y="2299494"/>
            <a:ext cx="6107112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6"/>
          <p:cNvSpPr txBox="1">
            <a:spLocks noGrp="1"/>
          </p:cNvSpPr>
          <p:nvPr>
            <p:ph type="body" idx="1"/>
          </p:nvPr>
        </p:nvSpPr>
        <p:spPr>
          <a:xfrm rot="5400000">
            <a:off x="413544" y="318294"/>
            <a:ext cx="6107112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flip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5" descr="ppt_INTERNA_sem texto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0" y="0"/>
            <a:ext cx="9144000" cy="685323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5"/>
          <p:cNvSpPr txBox="1">
            <a:spLocks noGrp="1"/>
          </p:cNvSpPr>
          <p:nvPr>
            <p:ph type="title"/>
          </p:nvPr>
        </p:nvSpPr>
        <p:spPr>
          <a:xfrm>
            <a:off x="2916238" y="274638"/>
            <a:ext cx="5770562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body" idx="1"/>
          </p:nvPr>
        </p:nvSpPr>
        <p:spPr>
          <a:xfrm>
            <a:off x="457200" y="1341438"/>
            <a:ext cx="8229600" cy="504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mc:AlternateContent xmlns:mc="http://schemas.openxmlformats.org/markup-compatibility/2006" xmlns:p14="http://schemas.microsoft.com/office/powerpoint/2010/main">
    <mc:Choice Requires="p14">
      <p:transition spd="slow" p14:dur="1100">
        <p14:flip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lack.com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b="1" dirty="0">
                <a:latin typeface="Lucida Sans"/>
                <a:ea typeface="Lucida Sans"/>
                <a:cs typeface="Lucida Sans"/>
                <a:sym typeface="Lucida Sans"/>
              </a:rPr>
              <a:t>PROCESSO MANUTENÇÃO</a:t>
            </a:r>
            <a:br>
              <a:rPr lang="pt-BR" b="1" dirty="0">
                <a:latin typeface="Lucida Sans"/>
                <a:ea typeface="Lucida Sans"/>
                <a:cs typeface="Lucida Sans"/>
                <a:sym typeface="Lucida Sans"/>
              </a:rPr>
            </a:br>
            <a:r>
              <a:rPr lang="pt-BR" b="1" dirty="0">
                <a:latin typeface="Lucida Sans"/>
                <a:ea typeface="Lucida Sans"/>
                <a:cs typeface="Lucida Sans"/>
                <a:sym typeface="Lucida Sans"/>
              </a:rPr>
              <a:t>Protocolo e Fluxo</a:t>
            </a:r>
            <a:endParaRPr b="1" dirty="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ctrTitle"/>
          </p:nvPr>
        </p:nvSpPr>
        <p:spPr>
          <a:xfrm>
            <a:off x="0" y="555812"/>
            <a:ext cx="91440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 b="1" dirty="0">
                <a:latin typeface="Lucida Sans"/>
                <a:ea typeface="Lucida Sans"/>
                <a:cs typeface="Lucida Sans"/>
                <a:sym typeface="Lucida Sans"/>
              </a:rPr>
              <a:t>MANUTENÇÃO EM SISTEMAS</a:t>
            </a:r>
            <a:endParaRPr sz="3200" b="1" dirty="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5E2172E-4D54-4A08-858E-8AFC4B5590C5}"/>
              </a:ext>
            </a:extLst>
          </p:cNvPr>
          <p:cNvSpPr txBox="1"/>
          <p:nvPr/>
        </p:nvSpPr>
        <p:spPr>
          <a:xfrm>
            <a:off x="466165" y="2514780"/>
            <a:ext cx="8211670" cy="3580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dirty="0"/>
              <a:t>A manutenção de software é um processo contínuo que envolve a correção de falhas, melhoria de desempenho, adaptação a novos ambientes e aprimoramento de recursos. </a:t>
            </a:r>
            <a:r>
              <a:rPr lang="pt-BR" sz="2000" b="1" dirty="0"/>
              <a:t>Um </a:t>
            </a:r>
            <a:r>
              <a:rPr lang="pt-BR" sz="2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protocolo</a:t>
            </a:r>
            <a:r>
              <a:rPr lang="pt-BR" sz="2000" b="1" dirty="0"/>
              <a:t> e </a:t>
            </a:r>
            <a:r>
              <a:rPr lang="pt-BR" sz="2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fluxo</a:t>
            </a:r>
            <a:r>
              <a:rPr lang="pt-BR" sz="2000" b="1" dirty="0"/>
              <a:t> de trabalho bem definidos são essenciais para garantir a eficiência</a:t>
            </a:r>
            <a:r>
              <a:rPr lang="pt-BR" sz="2000" dirty="0"/>
              <a:t>, especialmente quando diferentes equipes estão envolvidas, como as de desenvolvimento e suporte. 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>
                <a:solidFill>
                  <a:schemeClr val="tx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Um protocolo eficaz deve </a:t>
            </a:r>
            <a:r>
              <a:rPr lang="pt-BR" sz="2000" b="1" dirty="0">
                <a:solidFill>
                  <a:srgbClr val="FF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ser claro e amplamente comunicado</a:t>
            </a:r>
            <a:r>
              <a:rPr lang="pt-BR" sz="2000" dirty="0">
                <a:solidFill>
                  <a:schemeClr val="tx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, servindo como um guia para todas as equipes.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432989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ctrTitle"/>
          </p:nvPr>
        </p:nvSpPr>
        <p:spPr>
          <a:xfrm>
            <a:off x="0" y="1"/>
            <a:ext cx="9144000" cy="1120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 b="1" dirty="0">
                <a:latin typeface="Lucida Sans"/>
                <a:ea typeface="Lucida Sans"/>
                <a:cs typeface="Lucida Sans"/>
                <a:sym typeface="Lucida Sans"/>
              </a:rPr>
              <a:t>Protocolo</a:t>
            </a:r>
            <a:endParaRPr sz="3200" b="1" dirty="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5E2172E-4D54-4A08-858E-8AFC4B5590C5}"/>
              </a:ext>
            </a:extLst>
          </p:cNvPr>
          <p:cNvSpPr txBox="1"/>
          <p:nvPr/>
        </p:nvSpPr>
        <p:spPr>
          <a:xfrm>
            <a:off x="425823" y="1975058"/>
            <a:ext cx="8292353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Recebimento e registro de solicitações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Análise e planejamento</a:t>
            </a:r>
            <a:r>
              <a:rPr lang="pt-B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Execução e testes: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Documentação e feedback :</a:t>
            </a:r>
          </a:p>
          <a:p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0"/>
            <a:endParaRPr lang="pt-BR" b="1" dirty="0">
              <a:latin typeface="+mn-lt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9267998-D37A-4B97-B6E4-22C48A23B34D}"/>
              </a:ext>
            </a:extLst>
          </p:cNvPr>
          <p:cNvSpPr txBox="1"/>
          <p:nvPr/>
        </p:nvSpPr>
        <p:spPr>
          <a:xfrm>
            <a:off x="502024" y="1140467"/>
            <a:ext cx="83640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pt-BR" sz="2000" dirty="0">
                <a:solidFill>
                  <a:schemeClr val="tx1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Um bom protocolo deve cobrir os seguintes pontos: </a:t>
            </a:r>
            <a:endParaRPr lang="pt-BR" sz="2000" dirty="0">
              <a:solidFill>
                <a:schemeClr val="tx1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41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ctrTitle"/>
          </p:nvPr>
        </p:nvSpPr>
        <p:spPr>
          <a:xfrm>
            <a:off x="0" y="1"/>
            <a:ext cx="9144000" cy="1120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 b="1" dirty="0">
                <a:latin typeface="Lucida Sans"/>
                <a:ea typeface="Lucida Sans"/>
                <a:cs typeface="Lucida Sans"/>
                <a:sym typeface="Lucida Sans"/>
              </a:rPr>
              <a:t>Protocolo</a:t>
            </a:r>
            <a:endParaRPr sz="3200" b="1" dirty="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5E2172E-4D54-4A08-858E-8AFC4B5590C5}"/>
              </a:ext>
            </a:extLst>
          </p:cNvPr>
          <p:cNvSpPr txBox="1"/>
          <p:nvPr/>
        </p:nvSpPr>
        <p:spPr>
          <a:xfrm>
            <a:off x="425823" y="1366897"/>
            <a:ext cx="8292353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Recebimento e registro de solicitações:</a:t>
            </a:r>
          </a:p>
          <a:p>
            <a:pPr lvl="0"/>
            <a:endParaRPr lang="pt-BR" b="1" dirty="0">
              <a:latin typeface="+mn-lt"/>
            </a:endParaRPr>
          </a:p>
          <a:p>
            <a:pPr lvl="0" algn="just"/>
            <a:r>
              <a:rPr lang="pt-BR" sz="2000" b="1" dirty="0">
                <a:latin typeface="+mn-lt"/>
              </a:rPr>
              <a:t>Pontos de contato:</a:t>
            </a:r>
            <a:r>
              <a:rPr lang="pt-BR" sz="2000" dirty="0">
                <a:latin typeface="+mn-lt"/>
              </a:rPr>
              <a:t> Definir canais claros para a comunicação de problemas e novas demandas (</a:t>
            </a:r>
            <a:r>
              <a:rPr lang="pt-BR" sz="2000" dirty="0" err="1">
                <a:latin typeface="+mn-lt"/>
              </a:rPr>
              <a:t>ex</a:t>
            </a:r>
            <a:r>
              <a:rPr lang="pt-BR" sz="2000" dirty="0">
                <a:latin typeface="+mn-lt"/>
              </a:rPr>
              <a:t>: ferramenta de gestão de tickets, e-mail dedicado, etc.).</a:t>
            </a:r>
          </a:p>
          <a:p>
            <a:pPr lvl="0" algn="just"/>
            <a:endParaRPr lang="pt-BR" sz="2000" dirty="0">
              <a:latin typeface="+mn-lt"/>
            </a:endParaRPr>
          </a:p>
          <a:p>
            <a:pPr lvl="0" algn="just"/>
            <a:r>
              <a:rPr lang="pt-BR" sz="2000" b="1" dirty="0">
                <a:latin typeface="+mn-lt"/>
              </a:rPr>
              <a:t>Priorização:</a:t>
            </a:r>
            <a:r>
              <a:rPr lang="pt-BR" sz="2000" dirty="0">
                <a:latin typeface="+mn-lt"/>
              </a:rPr>
              <a:t> Estabelecer um sistema de prioridades (alta, média, baixa) para as solicitações, com base no impacto no negócio e na urgência.</a:t>
            </a:r>
          </a:p>
          <a:p>
            <a:pPr lvl="0" algn="just"/>
            <a:endParaRPr lang="pt-BR" sz="2000" dirty="0">
              <a:latin typeface="+mn-lt"/>
            </a:endParaRPr>
          </a:p>
          <a:p>
            <a:pPr lvl="0" algn="just"/>
            <a:r>
              <a:rPr lang="pt-BR" sz="2000" b="1" dirty="0">
                <a:latin typeface="+mn-lt"/>
              </a:rPr>
              <a:t>Documentação:</a:t>
            </a:r>
            <a:r>
              <a:rPr lang="pt-BR" sz="2000" dirty="0">
                <a:latin typeface="+mn-lt"/>
              </a:rPr>
              <a:t> Registrar detalhadamente cada solicitação, incluindo a descrição do problema, passos para reproduzi-lo, e informações do solicitante. </a:t>
            </a:r>
          </a:p>
        </p:txBody>
      </p:sp>
    </p:spTree>
    <p:extLst>
      <p:ext uri="{BB962C8B-B14F-4D97-AF65-F5344CB8AC3E}">
        <p14:creationId xmlns:p14="http://schemas.microsoft.com/office/powerpoint/2010/main" val="370321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ctrTitle"/>
          </p:nvPr>
        </p:nvSpPr>
        <p:spPr>
          <a:xfrm>
            <a:off x="0" y="1"/>
            <a:ext cx="9144000" cy="1120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 b="1" dirty="0">
                <a:latin typeface="Lucida Sans"/>
                <a:ea typeface="Lucida Sans"/>
                <a:cs typeface="Lucida Sans"/>
                <a:sym typeface="Lucida Sans"/>
              </a:rPr>
              <a:t>Protocolo</a:t>
            </a:r>
            <a:endParaRPr sz="3200" b="1" dirty="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5E2172E-4D54-4A08-858E-8AFC4B5590C5}"/>
              </a:ext>
            </a:extLst>
          </p:cNvPr>
          <p:cNvSpPr txBox="1"/>
          <p:nvPr/>
        </p:nvSpPr>
        <p:spPr>
          <a:xfrm>
            <a:off x="351864" y="1464070"/>
            <a:ext cx="855905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Análise e planejamento</a:t>
            </a:r>
            <a:r>
              <a:rPr lang="pt-B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lvl="0"/>
            <a:endParaRPr lang="pt-BR" b="1" dirty="0">
              <a:latin typeface="+mn-lt"/>
            </a:endParaRPr>
          </a:p>
          <a:p>
            <a:pPr lvl="0"/>
            <a:r>
              <a:rPr lang="pt-BR" sz="2000" b="1" dirty="0"/>
              <a:t>Análise de viabilidade:</a:t>
            </a:r>
            <a:r>
              <a:rPr lang="pt-BR" sz="2000" dirty="0"/>
              <a:t> A equipe de manutenção avalia a complexidade e o impacto da mudança.</a:t>
            </a:r>
          </a:p>
          <a:p>
            <a:pPr lvl="0"/>
            <a:endParaRPr lang="pt-BR" sz="2000" dirty="0"/>
          </a:p>
          <a:p>
            <a:pPr lvl="0"/>
            <a:r>
              <a:rPr lang="pt-BR" sz="2000" b="1" dirty="0"/>
              <a:t>Alocação de recursos:</a:t>
            </a:r>
            <a:r>
              <a:rPr lang="pt-BR" sz="2000" dirty="0"/>
              <a:t> O gestor aloca a tarefa ao desenvolvedor mais adequado.</a:t>
            </a:r>
          </a:p>
          <a:p>
            <a:pPr lvl="0"/>
            <a:endParaRPr lang="pt-BR" sz="2000" dirty="0"/>
          </a:p>
          <a:p>
            <a:pPr lvl="0"/>
            <a:r>
              <a:rPr lang="pt-BR" sz="2000" b="1" dirty="0"/>
              <a:t>Cronograma:</a:t>
            </a:r>
            <a:r>
              <a:rPr lang="pt-BR" sz="2000" dirty="0"/>
              <a:t> É definido um prazo estimado para a execução e entrega da correção ou melhoria. </a:t>
            </a:r>
          </a:p>
        </p:txBody>
      </p:sp>
    </p:spTree>
    <p:extLst>
      <p:ext uri="{BB962C8B-B14F-4D97-AF65-F5344CB8AC3E}">
        <p14:creationId xmlns:p14="http://schemas.microsoft.com/office/powerpoint/2010/main" val="1016131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ctrTitle"/>
          </p:nvPr>
        </p:nvSpPr>
        <p:spPr>
          <a:xfrm>
            <a:off x="0" y="1"/>
            <a:ext cx="9144000" cy="1120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 b="1" dirty="0">
                <a:latin typeface="Lucida Sans"/>
                <a:ea typeface="Lucida Sans"/>
                <a:cs typeface="Lucida Sans"/>
                <a:sym typeface="Lucida Sans"/>
              </a:rPr>
              <a:t>Protocolo</a:t>
            </a:r>
            <a:endParaRPr sz="3200" b="1" dirty="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5E2172E-4D54-4A08-858E-8AFC4B5590C5}"/>
              </a:ext>
            </a:extLst>
          </p:cNvPr>
          <p:cNvSpPr txBox="1"/>
          <p:nvPr/>
        </p:nvSpPr>
        <p:spPr>
          <a:xfrm>
            <a:off x="351864" y="1464070"/>
            <a:ext cx="855905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Execução e testes:</a:t>
            </a:r>
          </a:p>
          <a:p>
            <a:pPr lvl="0"/>
            <a:endParaRPr lang="pt-BR" b="1" dirty="0">
              <a:latin typeface="+mn-lt"/>
            </a:endParaRPr>
          </a:p>
          <a:p>
            <a:pPr lvl="0"/>
            <a:r>
              <a:rPr lang="pt-BR" sz="2000" b="1" dirty="0"/>
              <a:t>Implementação:</a:t>
            </a:r>
            <a:r>
              <a:rPr lang="pt-BR" sz="2000" dirty="0"/>
              <a:t> A equipe de desenvolvimento realiza as modificações no código-fonte.</a:t>
            </a:r>
          </a:p>
          <a:p>
            <a:pPr lvl="0"/>
            <a:endParaRPr lang="pt-BR" sz="2000" dirty="0"/>
          </a:p>
          <a:p>
            <a:pPr lvl="0"/>
            <a:r>
              <a:rPr lang="pt-BR" sz="2000" b="1" dirty="0"/>
              <a:t>Testes:</a:t>
            </a:r>
            <a:r>
              <a:rPr lang="pt-BR" sz="2000" dirty="0"/>
              <a:t> Realizar testes de regressão para garantir que a modificação não causou novos problemas.</a:t>
            </a:r>
          </a:p>
          <a:p>
            <a:pPr lvl="0"/>
            <a:endParaRPr lang="pt-BR" sz="2000" dirty="0"/>
          </a:p>
          <a:p>
            <a:pPr lvl="0"/>
            <a:r>
              <a:rPr lang="pt-BR" sz="2000" b="1" dirty="0"/>
              <a:t>Controle de versão:</a:t>
            </a:r>
            <a:r>
              <a:rPr lang="pt-BR" sz="2000" dirty="0"/>
              <a:t> Utilizar ferramentas como </a:t>
            </a:r>
            <a:r>
              <a:rPr lang="pt-BR" sz="2000" dirty="0" err="1"/>
              <a:t>Git</a:t>
            </a:r>
            <a:r>
              <a:rPr lang="pt-BR" sz="2000" dirty="0"/>
              <a:t> para gerenciar as alterações no código de forma segura. </a:t>
            </a:r>
          </a:p>
        </p:txBody>
      </p:sp>
    </p:spTree>
    <p:extLst>
      <p:ext uri="{BB962C8B-B14F-4D97-AF65-F5344CB8AC3E}">
        <p14:creationId xmlns:p14="http://schemas.microsoft.com/office/powerpoint/2010/main" val="2872186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ctrTitle"/>
          </p:nvPr>
        </p:nvSpPr>
        <p:spPr>
          <a:xfrm>
            <a:off x="0" y="1"/>
            <a:ext cx="9144000" cy="1120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 b="1" dirty="0">
                <a:latin typeface="Lucida Sans"/>
                <a:ea typeface="Lucida Sans"/>
                <a:cs typeface="Lucida Sans"/>
                <a:sym typeface="Lucida Sans"/>
              </a:rPr>
              <a:t>Protocolo</a:t>
            </a:r>
            <a:endParaRPr sz="3200" b="1" dirty="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5E2172E-4D54-4A08-858E-8AFC4B5590C5}"/>
              </a:ext>
            </a:extLst>
          </p:cNvPr>
          <p:cNvSpPr txBox="1"/>
          <p:nvPr/>
        </p:nvSpPr>
        <p:spPr>
          <a:xfrm>
            <a:off x="351864" y="1464070"/>
            <a:ext cx="855905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Implantação e validação:</a:t>
            </a:r>
          </a:p>
          <a:p>
            <a:pPr lvl="0"/>
            <a:endParaRPr lang="pt-BR" b="1" dirty="0">
              <a:latin typeface="+mn-lt"/>
            </a:endParaRPr>
          </a:p>
          <a:p>
            <a:pPr lvl="0"/>
            <a:r>
              <a:rPr lang="pt-BR" sz="2000" b="1" dirty="0"/>
              <a:t>Homologação:</a:t>
            </a:r>
            <a:r>
              <a:rPr lang="pt-BR" sz="2000" dirty="0"/>
              <a:t> Antes da liberação final, a nova versão deve ser validada em um ambiente de testes para aprovação.</a:t>
            </a:r>
          </a:p>
          <a:p>
            <a:pPr lvl="0"/>
            <a:endParaRPr lang="pt-BR" sz="2000" dirty="0"/>
          </a:p>
          <a:p>
            <a:pPr lvl="0"/>
            <a:r>
              <a:rPr lang="pt-BR" sz="2000" b="1" dirty="0" err="1"/>
              <a:t>Deploy</a:t>
            </a:r>
            <a:r>
              <a:rPr lang="pt-BR" sz="2000" b="1" dirty="0"/>
              <a:t>:</a:t>
            </a:r>
            <a:r>
              <a:rPr lang="pt-BR" sz="2000" dirty="0"/>
              <a:t> A nova versão é liberada para o ambiente de produção após a aprovação.</a:t>
            </a:r>
          </a:p>
          <a:p>
            <a:pPr lvl="0"/>
            <a:endParaRPr lang="pt-BR" sz="2000" dirty="0"/>
          </a:p>
          <a:p>
            <a:pPr lvl="0"/>
            <a:r>
              <a:rPr lang="pt-BR" sz="2000" b="1" dirty="0"/>
              <a:t>Monitoramento:</a:t>
            </a:r>
            <a:r>
              <a:rPr lang="pt-BR" sz="2000" dirty="0"/>
              <a:t> A equipe monitora o sistema para garantir que a correção ou melhoria foi implementada com sucesso. </a:t>
            </a:r>
          </a:p>
        </p:txBody>
      </p:sp>
    </p:spTree>
    <p:extLst>
      <p:ext uri="{BB962C8B-B14F-4D97-AF65-F5344CB8AC3E}">
        <p14:creationId xmlns:p14="http://schemas.microsoft.com/office/powerpoint/2010/main" val="16035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ctrTitle"/>
          </p:nvPr>
        </p:nvSpPr>
        <p:spPr>
          <a:xfrm>
            <a:off x="0" y="1"/>
            <a:ext cx="9144000" cy="1120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 b="1" dirty="0">
                <a:latin typeface="Lucida Sans"/>
                <a:ea typeface="Lucida Sans"/>
                <a:cs typeface="Lucida Sans"/>
                <a:sym typeface="Lucida Sans"/>
              </a:rPr>
              <a:t>Protocolo</a:t>
            </a:r>
            <a:endParaRPr sz="3200" b="1" dirty="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5E2172E-4D54-4A08-858E-8AFC4B5590C5}"/>
              </a:ext>
            </a:extLst>
          </p:cNvPr>
          <p:cNvSpPr txBox="1"/>
          <p:nvPr/>
        </p:nvSpPr>
        <p:spPr>
          <a:xfrm>
            <a:off x="351864" y="1464070"/>
            <a:ext cx="855905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Documentação e feedback :</a:t>
            </a:r>
          </a:p>
          <a:p>
            <a:pPr lvl="0"/>
            <a:endParaRPr lang="pt-BR" b="1" dirty="0">
              <a:latin typeface="+mn-lt"/>
            </a:endParaRPr>
          </a:p>
          <a:p>
            <a:pPr lvl="0"/>
            <a:r>
              <a:rPr lang="pt-BR" sz="2000" b="1" dirty="0"/>
              <a:t>Atualização da documentação:</a:t>
            </a:r>
            <a:r>
              <a:rPr lang="pt-BR" sz="2000" dirty="0"/>
              <a:t> Manter a documentação técnica e de usuário atualizada após as modificações.</a:t>
            </a:r>
          </a:p>
          <a:p>
            <a:pPr lvl="0"/>
            <a:endParaRPr lang="pt-BR" sz="2000" dirty="0"/>
          </a:p>
          <a:p>
            <a:pPr lvl="0"/>
            <a:r>
              <a:rPr lang="pt-BR" sz="2000" b="1" dirty="0"/>
              <a:t>Comunicação ao cliente:</a:t>
            </a:r>
            <a:r>
              <a:rPr lang="pt-BR" sz="2000" dirty="0"/>
              <a:t> Informar ao solicitante que o problema foi resolvido ou a melhoria foi implementada.</a:t>
            </a:r>
          </a:p>
          <a:p>
            <a:pPr lvl="0"/>
            <a:endParaRPr lang="pt-BR" sz="2000" dirty="0"/>
          </a:p>
          <a:p>
            <a:pPr lvl="0"/>
            <a:r>
              <a:rPr lang="pt-BR" sz="2000" b="1" dirty="0"/>
              <a:t>Retrospectiva:</a:t>
            </a:r>
            <a:r>
              <a:rPr lang="pt-BR" sz="2000" dirty="0"/>
              <a:t> Realizar sessões de feedback para identificar melhorias no processo. </a:t>
            </a:r>
          </a:p>
        </p:txBody>
      </p:sp>
    </p:spTree>
    <p:extLst>
      <p:ext uri="{BB962C8B-B14F-4D97-AF65-F5344CB8AC3E}">
        <p14:creationId xmlns:p14="http://schemas.microsoft.com/office/powerpoint/2010/main" val="556084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ctrTitle"/>
          </p:nvPr>
        </p:nvSpPr>
        <p:spPr>
          <a:xfrm>
            <a:off x="0" y="1"/>
            <a:ext cx="9144000" cy="1120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 b="1" dirty="0">
                <a:latin typeface="Lucida Sans"/>
                <a:ea typeface="Lucida Sans"/>
                <a:cs typeface="Lucida Sans"/>
                <a:sym typeface="Lucida Sans"/>
              </a:rPr>
              <a:t>Fluxo</a:t>
            </a:r>
            <a:endParaRPr sz="3200" b="1" dirty="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5E2172E-4D54-4A08-858E-8AFC4B5590C5}"/>
              </a:ext>
            </a:extLst>
          </p:cNvPr>
          <p:cNvSpPr txBox="1"/>
          <p:nvPr/>
        </p:nvSpPr>
        <p:spPr>
          <a:xfrm>
            <a:off x="439270" y="1347529"/>
            <a:ext cx="855905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pt-BR" sz="2000" dirty="0"/>
              <a:t>Para garantir uma comunicação fluida e um processo de manutenção eficiente, o fluxo de trabalho deve ser claro para todas as equipes envolvidas, incluindo: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AC613CF-A2F6-4ED8-B302-50EE5DE25BFB}"/>
              </a:ext>
            </a:extLst>
          </p:cNvPr>
          <p:cNvSpPr txBox="1"/>
          <p:nvPr/>
        </p:nvSpPr>
        <p:spPr>
          <a:xfrm>
            <a:off x="367552" y="2607393"/>
            <a:ext cx="8408895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pt-BR" sz="2000" b="1" u="sng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Equipe de Suporte e Atendimento</a:t>
            </a:r>
            <a:endParaRPr lang="pt-BR" sz="2000" u="sng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12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Função:</a:t>
            </a:r>
            <a:r>
              <a:rPr lang="pt-BR" sz="2000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 Recebe as solicitações dos usuários e as registra em um sistema de tickets (</a:t>
            </a:r>
            <a:r>
              <a:rPr lang="pt-BR" sz="2000" dirty="0" err="1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Jira</a:t>
            </a:r>
            <a:r>
              <a:rPr lang="pt-BR" sz="2000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 err="1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Trello</a:t>
            </a:r>
            <a:r>
              <a:rPr lang="pt-BR" sz="2000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, etc.).</a:t>
            </a:r>
            <a:endParaRPr lang="pt-BR" sz="2000" dirty="0">
              <a:solidFill>
                <a:srgbClr val="001D35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9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Fluxo:</a:t>
            </a:r>
            <a:endParaRPr lang="pt-BR" sz="2000" dirty="0">
              <a:solidFill>
                <a:srgbClr val="001D35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9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pt-BR" sz="2000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Recebe a solicitação.</a:t>
            </a:r>
            <a:endParaRPr lang="pt-BR" sz="2000" dirty="0">
              <a:solidFill>
                <a:srgbClr val="001D35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9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pt-BR" sz="2000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Registra e classifica o ticket com base na urgência e no tipo de manutenção.</a:t>
            </a:r>
            <a:endParaRPr lang="pt-BR" sz="2000" dirty="0">
              <a:solidFill>
                <a:srgbClr val="001D35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9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pt-BR" sz="2000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Repassa o ticket para a equipe de manutenção.</a:t>
            </a:r>
            <a:endParaRPr lang="pt-BR" sz="2000" dirty="0">
              <a:solidFill>
                <a:srgbClr val="001D35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9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pt-BR" sz="2000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Comunica ao usuário sobre o andamento e a resolução do problema.</a:t>
            </a:r>
            <a:endParaRPr lang="pt-BR" sz="2000" dirty="0">
              <a:solidFill>
                <a:srgbClr val="001D35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183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ctrTitle"/>
          </p:nvPr>
        </p:nvSpPr>
        <p:spPr>
          <a:xfrm>
            <a:off x="0" y="1"/>
            <a:ext cx="9144000" cy="1120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 b="1" dirty="0">
                <a:latin typeface="Lucida Sans"/>
                <a:ea typeface="Lucida Sans"/>
                <a:cs typeface="Lucida Sans"/>
                <a:sym typeface="Lucida Sans"/>
              </a:rPr>
              <a:t>Fluxo</a:t>
            </a:r>
            <a:endParaRPr sz="3200" b="1" dirty="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AC613CF-A2F6-4ED8-B302-50EE5DE25BFB}"/>
              </a:ext>
            </a:extLst>
          </p:cNvPr>
          <p:cNvSpPr txBox="1"/>
          <p:nvPr/>
        </p:nvSpPr>
        <p:spPr>
          <a:xfrm>
            <a:off x="425823" y="1736222"/>
            <a:ext cx="8292354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pt-BR" sz="2000" b="1" u="sng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Equipe de Manutenção</a:t>
            </a:r>
            <a:endParaRPr lang="pt-BR" sz="2000" u="sng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12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Função:</a:t>
            </a:r>
            <a:r>
              <a:rPr lang="pt-BR" sz="2000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 Analisa, planeja, executa e testa as correções ou melhorias. Em muitas empresas, essa função é desempenhada pela própria equipe de desenvolvimento.</a:t>
            </a:r>
            <a:endParaRPr lang="pt-BR" sz="2000" dirty="0">
              <a:solidFill>
                <a:srgbClr val="001D35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9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Fluxo:</a:t>
            </a:r>
            <a:endParaRPr lang="pt-BR" sz="2000" dirty="0">
              <a:solidFill>
                <a:srgbClr val="001D35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9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pt-BR" sz="2000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Analisa a solicitação recebida.</a:t>
            </a:r>
            <a:endParaRPr lang="pt-BR" sz="2000" dirty="0">
              <a:solidFill>
                <a:srgbClr val="001D35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9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pt-BR" sz="2000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Estima o esforço e o prazo para a implementação.</a:t>
            </a:r>
            <a:endParaRPr lang="pt-BR" sz="2000" dirty="0">
              <a:solidFill>
                <a:srgbClr val="001D35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9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pt-BR" sz="2000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Implementa as modificações no código-fonte.</a:t>
            </a:r>
            <a:endParaRPr lang="pt-BR" sz="2000" dirty="0">
              <a:solidFill>
                <a:srgbClr val="001D35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9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pt-BR" sz="2000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Executa os testes e, se aprovado, avança para a homologação. </a:t>
            </a:r>
            <a:endParaRPr lang="pt-BR" sz="2000" dirty="0">
              <a:solidFill>
                <a:srgbClr val="001D35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133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ctrTitle"/>
          </p:nvPr>
        </p:nvSpPr>
        <p:spPr>
          <a:xfrm>
            <a:off x="0" y="1"/>
            <a:ext cx="9144000" cy="1120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 b="1" dirty="0">
                <a:latin typeface="Lucida Sans"/>
                <a:ea typeface="Lucida Sans"/>
                <a:cs typeface="Lucida Sans"/>
                <a:sym typeface="Lucida Sans"/>
              </a:rPr>
              <a:t>Fluxo</a:t>
            </a:r>
            <a:endParaRPr sz="3200" b="1" dirty="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AC613CF-A2F6-4ED8-B302-50EE5DE25BFB}"/>
              </a:ext>
            </a:extLst>
          </p:cNvPr>
          <p:cNvSpPr txBox="1"/>
          <p:nvPr/>
        </p:nvSpPr>
        <p:spPr>
          <a:xfrm>
            <a:off x="425823" y="1736222"/>
            <a:ext cx="8292354" cy="2900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pt-BR" sz="2000" b="1" u="sng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Equipe de Qualidade (QA)</a:t>
            </a:r>
            <a:endParaRPr lang="pt-BR" sz="2000" b="1" u="sng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12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Função:</a:t>
            </a:r>
            <a:r>
              <a:rPr lang="pt-BR" sz="2000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 Realiza testes de validação para garantir que a alteração não gerou novos problemas.</a:t>
            </a:r>
            <a:endParaRPr lang="pt-BR" sz="2000" dirty="0">
              <a:solidFill>
                <a:srgbClr val="001D35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9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Fluxo:</a:t>
            </a:r>
            <a:endParaRPr lang="pt-BR" sz="2000" dirty="0">
              <a:solidFill>
                <a:srgbClr val="001D35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9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pt-BR" sz="2000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Recebe a versão do software com a correção para testar.</a:t>
            </a:r>
            <a:endParaRPr lang="pt-BR" sz="2000" dirty="0">
              <a:solidFill>
                <a:srgbClr val="001D35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9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pt-BR" sz="2000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Executa testes de regressão e validação.</a:t>
            </a:r>
            <a:endParaRPr lang="pt-BR" sz="2000" dirty="0">
              <a:solidFill>
                <a:srgbClr val="001D35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9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pt-BR" sz="2000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Aprova ou rejeita a versão com base nos resultados dos testes. </a:t>
            </a:r>
            <a:endParaRPr lang="pt-BR" sz="2000" dirty="0">
              <a:solidFill>
                <a:srgbClr val="001D35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101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ctrTitle"/>
          </p:nvPr>
        </p:nvSpPr>
        <p:spPr>
          <a:xfrm>
            <a:off x="0" y="1"/>
            <a:ext cx="9144000" cy="1120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 b="1" dirty="0">
                <a:latin typeface="Lucida Sans"/>
                <a:ea typeface="Lucida Sans"/>
                <a:cs typeface="Lucida Sans"/>
                <a:sym typeface="Lucida Sans"/>
              </a:rPr>
              <a:t>Fluxo</a:t>
            </a:r>
            <a:endParaRPr sz="3200" b="1" dirty="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AC613CF-A2F6-4ED8-B302-50EE5DE25BFB}"/>
              </a:ext>
            </a:extLst>
          </p:cNvPr>
          <p:cNvSpPr txBox="1"/>
          <p:nvPr/>
        </p:nvSpPr>
        <p:spPr>
          <a:xfrm>
            <a:off x="425823" y="1978603"/>
            <a:ext cx="8292354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pt-BR" sz="2000" b="1" u="sng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Equipe de Operações (</a:t>
            </a:r>
            <a:r>
              <a:rPr lang="pt-BR" sz="2000" b="1" u="sng" dirty="0" err="1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r>
              <a:rPr lang="pt-BR" sz="2000" b="1" u="sng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2000" u="sng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12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Função:</a:t>
            </a:r>
            <a:r>
              <a:rPr lang="pt-BR" sz="2000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 É responsável pelo ambiente de produção e pela implantação da nova versão.</a:t>
            </a:r>
            <a:endParaRPr lang="pt-BR" sz="2000" dirty="0">
              <a:solidFill>
                <a:srgbClr val="001D35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12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Fluxo:</a:t>
            </a:r>
            <a:endParaRPr lang="pt-BR" sz="2000" dirty="0">
              <a:solidFill>
                <a:srgbClr val="001D35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12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pt-BR" sz="2000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Recebe a versão aprovada pela equipe de QA.</a:t>
            </a:r>
            <a:endParaRPr lang="pt-BR" sz="2000" dirty="0">
              <a:solidFill>
                <a:srgbClr val="001D35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12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pt-BR" sz="2000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Realiza o </a:t>
            </a:r>
            <a:r>
              <a:rPr lang="pt-BR" sz="2000" i="1" dirty="0" err="1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deploy</a:t>
            </a:r>
            <a:r>
              <a:rPr lang="pt-BR" sz="2000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 da nova versão no ambiente de produção.</a:t>
            </a:r>
            <a:endParaRPr lang="pt-BR" sz="2000" dirty="0">
              <a:solidFill>
                <a:srgbClr val="001D35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12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pt-BR" sz="2000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Monitora o sistema para garantir a estabilidade. </a:t>
            </a:r>
            <a:endParaRPr lang="pt-BR" sz="2000" dirty="0">
              <a:solidFill>
                <a:srgbClr val="001D35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936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ctrTitle"/>
          </p:nvPr>
        </p:nvSpPr>
        <p:spPr>
          <a:xfrm>
            <a:off x="0" y="1"/>
            <a:ext cx="9144000" cy="1120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 b="1" dirty="0">
                <a:latin typeface="Lucida Sans"/>
                <a:ea typeface="Lucida Sans"/>
                <a:cs typeface="Lucida Sans"/>
                <a:sym typeface="Lucida Sans"/>
              </a:rPr>
              <a:t>Protocolo e Fluxo</a:t>
            </a:r>
            <a:endParaRPr sz="3200" b="1" dirty="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AC613CF-A2F6-4ED8-B302-50EE5DE25BFB}"/>
              </a:ext>
            </a:extLst>
          </p:cNvPr>
          <p:cNvSpPr txBox="1"/>
          <p:nvPr/>
        </p:nvSpPr>
        <p:spPr>
          <a:xfrm>
            <a:off x="488576" y="1996532"/>
            <a:ext cx="829235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pt-BR" sz="2000" b="1" u="sng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Ferramentas de apoio</a:t>
            </a:r>
            <a:endParaRPr lang="pt-BR" sz="2000" b="1" u="sng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r>
              <a:rPr lang="pt-BR" sz="2000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O uso de ferramentas adequadas pode otimizar significativamente o processo de manutenção:</a:t>
            </a:r>
            <a:endParaRPr lang="pt-BR" sz="20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12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Gestão de projetos:</a:t>
            </a:r>
            <a:r>
              <a:rPr lang="pt-BR" sz="2000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pt-BR" sz="2000" dirty="0" err="1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Jira</a:t>
            </a:r>
            <a:r>
              <a:rPr lang="pt-BR" sz="2000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 err="1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Trello</a:t>
            </a:r>
            <a:r>
              <a:rPr lang="pt-BR" sz="2000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 err="1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Asana</a:t>
            </a:r>
            <a:r>
              <a:rPr lang="pt-BR" sz="2000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2000" dirty="0">
              <a:solidFill>
                <a:srgbClr val="001D35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12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Controle de versão:</a:t>
            </a:r>
            <a:r>
              <a:rPr lang="pt-BR" sz="2000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pt-BR" sz="2000" dirty="0" err="1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2000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, GitHub, </a:t>
            </a:r>
            <a:r>
              <a:rPr lang="pt-BR" sz="2000" dirty="0" err="1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GitLab</a:t>
            </a:r>
            <a:r>
              <a:rPr lang="pt-BR" sz="2000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2000" dirty="0">
              <a:solidFill>
                <a:srgbClr val="001D35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12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Comunicação:</a:t>
            </a:r>
            <a:r>
              <a:rPr lang="pt-BR" sz="2000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pt-BR" sz="2000" u="sng" dirty="0">
                <a:solidFill>
                  <a:srgbClr val="1A0DAB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Slack</a:t>
            </a:r>
            <a:r>
              <a:rPr lang="pt-BR" sz="2000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, Microsoft </a:t>
            </a:r>
            <a:r>
              <a:rPr lang="pt-BR" sz="2000" dirty="0" err="1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Teams</a:t>
            </a:r>
            <a:r>
              <a:rPr lang="pt-BR" sz="2000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2000" dirty="0">
              <a:solidFill>
                <a:srgbClr val="001D35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12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Automação de testes:</a:t>
            </a:r>
            <a:r>
              <a:rPr lang="pt-BR" sz="2000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pt-BR" sz="2000" dirty="0" err="1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Selenium</a:t>
            </a:r>
            <a:r>
              <a:rPr lang="pt-BR" sz="2000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, Jenkins.</a:t>
            </a:r>
            <a:endParaRPr lang="pt-BR" sz="2000" dirty="0">
              <a:solidFill>
                <a:srgbClr val="001D35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12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Armazenamento de documentação:</a:t>
            </a:r>
            <a:r>
              <a:rPr lang="pt-BR" sz="2000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 Google Drive, </a:t>
            </a:r>
            <a:r>
              <a:rPr lang="pt-BR" sz="2000" dirty="0" err="1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Confluence</a:t>
            </a:r>
            <a:r>
              <a:rPr lang="pt-BR" sz="2000" dirty="0">
                <a:solidFill>
                  <a:srgbClr val="001D35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  <a:endParaRPr lang="pt-BR" sz="2000" dirty="0">
              <a:solidFill>
                <a:srgbClr val="001D35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033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ctrTitle"/>
          </p:nvPr>
        </p:nvSpPr>
        <p:spPr>
          <a:xfrm>
            <a:off x="0" y="197223"/>
            <a:ext cx="91440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b="1" dirty="0">
                <a:latin typeface="Lucida Sans"/>
                <a:ea typeface="Lucida Sans"/>
                <a:cs typeface="Lucida Sans"/>
                <a:sym typeface="Lucida Sans"/>
              </a:rPr>
              <a:t>TRABALHO</a:t>
            </a:r>
            <a:endParaRPr b="1" dirty="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5E2172E-4D54-4A08-858E-8AFC4B5590C5}"/>
              </a:ext>
            </a:extLst>
          </p:cNvPr>
          <p:cNvSpPr txBox="1"/>
          <p:nvPr/>
        </p:nvSpPr>
        <p:spPr>
          <a:xfrm>
            <a:off x="457200" y="1667248"/>
            <a:ext cx="8355106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Aft>
                <a:spcPts val="600"/>
              </a:spcAft>
              <a:buSzPts val="1000"/>
              <a:tabLst>
                <a:tab pos="457200" algn="l"/>
              </a:tabLst>
            </a:pPr>
            <a:r>
              <a:rPr lang="pt-BR" sz="2400" b="1" dirty="0">
                <a:solidFill>
                  <a:srgbClr val="001D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Após 2 anos</a:t>
            </a:r>
            <a:r>
              <a:rPr lang="pt-BR" sz="2400" b="1" dirty="0">
                <a:solidFill>
                  <a:srgbClr val="001D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sistema instalado haverá uma mudança na legislação tributária, que entrará em vigência em </a:t>
            </a:r>
            <a:r>
              <a:rPr lang="pt-BR" sz="2400" b="1" dirty="0">
                <a:solidFill>
                  <a:srgbClr val="001D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pt-BR" sz="2400" b="1" dirty="0">
                <a:solidFill>
                  <a:srgbClr val="001D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meses, o que acarretou uma manutenção solicitada pelo  cliente. Monte  um fluxo e protocolo de manutenção </a:t>
            </a:r>
            <a:r>
              <a:rPr lang="pt-BR" sz="2400" b="1" dirty="0">
                <a:solidFill>
                  <a:srgbClr val="001D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 sua empresa </a:t>
            </a:r>
            <a:r>
              <a:rPr lang="pt-BR" sz="2400" b="1" dirty="0">
                <a:solidFill>
                  <a:srgbClr val="001D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 efetuar essa operação.</a:t>
            </a:r>
          </a:p>
          <a:p>
            <a:pPr marL="342900" lvl="0" indent="-342900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pt-BR" sz="2000" b="1" dirty="0">
              <a:solidFill>
                <a:srgbClr val="001D3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pt-BR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pt-BR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037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17841</TotalTime>
  <Words>794</Words>
  <Application>Microsoft Office PowerPoint</Application>
  <PresentationFormat>Apresentação na tela (4:3)</PresentationFormat>
  <Paragraphs>95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1" baseType="lpstr">
      <vt:lpstr>Arial</vt:lpstr>
      <vt:lpstr>Symbol</vt:lpstr>
      <vt:lpstr>Verdana</vt:lpstr>
      <vt:lpstr>Wingdings</vt:lpstr>
      <vt:lpstr>Calibri</vt:lpstr>
      <vt:lpstr>Lucida Sans</vt:lpstr>
      <vt:lpstr>Design padrão</vt:lpstr>
      <vt:lpstr>PROCESSO MANUTENÇÃO Protocolo e Fluxo</vt:lpstr>
      <vt:lpstr>MANUTENÇÃO EM SISTEMAS</vt:lpstr>
      <vt:lpstr>Protocolo</vt:lpstr>
      <vt:lpstr>Protocolo</vt:lpstr>
      <vt:lpstr>Protocolo</vt:lpstr>
      <vt:lpstr>Protocolo</vt:lpstr>
      <vt:lpstr>Protocolo</vt:lpstr>
      <vt:lpstr>Protocolo</vt:lpstr>
      <vt:lpstr>Fluxo</vt:lpstr>
      <vt:lpstr>Fluxo</vt:lpstr>
      <vt:lpstr>Fluxo</vt:lpstr>
      <vt:lpstr>Fluxo</vt:lpstr>
      <vt:lpstr>Protocolo e Fluxo</vt:lpstr>
      <vt:lpstr>TRABALHO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de requisitos  e  funcionalidades da aplicação</dc:title>
  <dc:creator>CCC6</dc:creator>
  <cp:lastModifiedBy>Ellaiser Barros Neiva</cp:lastModifiedBy>
  <cp:revision>421</cp:revision>
  <dcterms:created xsi:type="dcterms:W3CDTF">2012-05-16T14:24:37Z</dcterms:created>
  <dcterms:modified xsi:type="dcterms:W3CDTF">2025-11-26T11:50:40Z</dcterms:modified>
</cp:coreProperties>
</file>